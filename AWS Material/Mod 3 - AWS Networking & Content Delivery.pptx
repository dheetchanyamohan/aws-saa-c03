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5"/>
  </p:notesMasterIdLst>
  <p:sldIdLst>
    <p:sldId id="256" r:id="rId5"/>
    <p:sldId id="257" r:id="rId6"/>
    <p:sldId id="259" r:id="rId7"/>
    <p:sldId id="260" r:id="rId8"/>
    <p:sldId id="261" r:id="rId9"/>
    <p:sldId id="262" r:id="rId10"/>
    <p:sldId id="264" r:id="rId11"/>
    <p:sldId id="263" r:id="rId12"/>
    <p:sldId id="266" r:id="rId13"/>
    <p:sldId id="267" r:id="rId14"/>
    <p:sldId id="265"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1921C1E-F469-4041-B5CF-9C4B436A25B3}" v="2" dt="2025-08-04T04:00:27.16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53" d="100"/>
          <a:sy n="53" d="100"/>
        </p:scale>
        <p:origin x="32" y="40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ableStyles" Target="tableStyles.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notesMaster" Target="notesMasters/notesMaster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adeep Krishnadoss" userId="0f0e1dbbbd1daf0c" providerId="LiveId" clId="{F1921C1E-F469-4041-B5CF-9C4B436A25B3}"/>
    <pc:docChg chg="custSel modSld">
      <pc:chgData name="Pradeep Krishnadoss" userId="0f0e1dbbbd1daf0c" providerId="LiveId" clId="{F1921C1E-F469-4041-B5CF-9C4B436A25B3}" dt="2025-08-04T04:00:45.976" v="7" actId="33524"/>
      <pc:docMkLst>
        <pc:docMk/>
      </pc:docMkLst>
      <pc:sldChg chg="addSp delSp modSp mod">
        <pc:chgData name="Pradeep Krishnadoss" userId="0f0e1dbbbd1daf0c" providerId="LiveId" clId="{F1921C1E-F469-4041-B5CF-9C4B436A25B3}" dt="2025-08-04T04:00:45.976" v="7" actId="33524"/>
        <pc:sldMkLst>
          <pc:docMk/>
          <pc:sldMk cId="460322132" sldId="271"/>
        </pc:sldMkLst>
        <pc:spChg chg="mod">
          <ac:chgData name="Pradeep Krishnadoss" userId="0f0e1dbbbd1daf0c" providerId="LiveId" clId="{F1921C1E-F469-4041-B5CF-9C4B436A25B3}" dt="2025-08-04T03:58:32.306" v="0" actId="6549"/>
          <ac:spMkLst>
            <pc:docMk/>
            <pc:sldMk cId="460322132" sldId="271"/>
            <ac:spMk id="2" creationId="{00000000-0000-0000-0000-000000000000}"/>
          </ac:spMkLst>
        </pc:spChg>
        <pc:spChg chg="add mod">
          <ac:chgData name="Pradeep Krishnadoss" userId="0f0e1dbbbd1daf0c" providerId="LiveId" clId="{F1921C1E-F469-4041-B5CF-9C4B436A25B3}" dt="2025-08-04T04:00:45.976" v="7" actId="33524"/>
          <ac:spMkLst>
            <pc:docMk/>
            <pc:sldMk cId="460322132" sldId="271"/>
            <ac:spMk id="3" creationId="{1374C74C-0425-58BC-4EC4-F7BE3C8A1EC4}"/>
          </ac:spMkLst>
        </pc:spChg>
        <pc:picChg chg="del">
          <ac:chgData name="Pradeep Krishnadoss" userId="0f0e1dbbbd1daf0c" providerId="LiveId" clId="{F1921C1E-F469-4041-B5CF-9C4B436A25B3}" dt="2025-08-04T04:00:25.581" v="1" actId="478"/>
          <ac:picMkLst>
            <pc:docMk/>
            <pc:sldMk cId="460322132" sldId="271"/>
            <ac:picMk id="13314" creationId="{00000000-0000-0000-0000-0000000000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1E16CB9-81EC-486F-852D-9793E2ED05FB}" type="datetimeFigureOut">
              <a:rPr lang="en-IN" smtClean="0"/>
              <a:t>17-08-2025</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D83F66A-C972-4880-B421-DFEEAD34A287}" type="slidenum">
              <a:rPr lang="en-IN" smtClean="0"/>
              <a:t>‹#›</a:t>
            </a:fld>
            <a:endParaRPr lang="en-IN"/>
          </a:p>
        </p:txBody>
      </p:sp>
    </p:spTree>
    <p:extLst>
      <p:ext uri="{BB962C8B-B14F-4D97-AF65-F5344CB8AC3E}">
        <p14:creationId xmlns:p14="http://schemas.microsoft.com/office/powerpoint/2010/main" val="1454640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83F66A-C972-4880-B421-DFEEAD34A287}" type="slidenum">
              <a:rPr lang="en-IN" smtClean="0"/>
              <a:t>5</a:t>
            </a:fld>
            <a:endParaRPr lang="en-IN"/>
          </a:p>
        </p:txBody>
      </p:sp>
    </p:spTree>
    <p:extLst>
      <p:ext uri="{BB962C8B-B14F-4D97-AF65-F5344CB8AC3E}">
        <p14:creationId xmlns:p14="http://schemas.microsoft.com/office/powerpoint/2010/main" val="18315150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8/17/2025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8/17/2025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8/17/2025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b="1" dirty="0"/>
              <a:t>Module:3-AWS Networking and Content Delivery</a:t>
            </a:r>
            <a:endParaRPr lang="en-IN" dirty="0"/>
          </a:p>
        </p:txBody>
      </p:sp>
      <p:sp>
        <p:nvSpPr>
          <p:cNvPr id="5" name="Content Placeholder 4"/>
          <p:cNvSpPr>
            <a:spLocks noGrp="1"/>
          </p:cNvSpPr>
          <p:nvPr>
            <p:ph idx="1"/>
          </p:nvPr>
        </p:nvSpPr>
        <p:spPr/>
        <p:txBody>
          <a:bodyPr>
            <a:normAutofit fontScale="92500" lnSpcReduction="10000"/>
          </a:bodyPr>
          <a:lstStyle/>
          <a:p>
            <a:pPr marL="0" indent="0">
              <a:buNone/>
            </a:pPr>
            <a:endParaRPr lang="en-US" dirty="0"/>
          </a:p>
          <a:p>
            <a:pPr marL="0" indent="0">
              <a:buNone/>
            </a:pPr>
            <a:r>
              <a:rPr lang="en-US" dirty="0"/>
              <a:t> Amazon VPC (Virtual Private Cloud), </a:t>
            </a:r>
          </a:p>
          <a:p>
            <a:pPr marL="0" indent="0">
              <a:buNone/>
            </a:pPr>
            <a:r>
              <a:rPr lang="en-US" dirty="0"/>
              <a:t> VPC Subnets,</a:t>
            </a:r>
          </a:p>
          <a:p>
            <a:pPr marL="0" indent="0">
              <a:buNone/>
            </a:pPr>
            <a:r>
              <a:rPr lang="en-US" dirty="0"/>
              <a:t> Route Tables,</a:t>
            </a:r>
          </a:p>
          <a:p>
            <a:pPr marL="0" indent="0">
              <a:buNone/>
            </a:pPr>
            <a:r>
              <a:rPr lang="en-US" dirty="0"/>
              <a:t> Security Groups, </a:t>
            </a:r>
          </a:p>
          <a:p>
            <a:pPr marL="0" indent="0">
              <a:buNone/>
            </a:pPr>
            <a:r>
              <a:rPr lang="en-US" dirty="0"/>
              <a:t> VPC Peering,</a:t>
            </a:r>
          </a:p>
          <a:p>
            <a:pPr marL="0" indent="0">
              <a:buNone/>
            </a:pPr>
            <a:r>
              <a:rPr lang="en-US" dirty="0"/>
              <a:t> AWS Direct Connect, AWS Networking and Content  Delivery</a:t>
            </a:r>
          </a:p>
          <a:p>
            <a:pPr marL="0" indent="0">
              <a:buNone/>
            </a:pPr>
            <a:r>
              <a:rPr lang="en-US" dirty="0"/>
              <a:t> Amazon </a:t>
            </a:r>
            <a:r>
              <a:rPr lang="en-US" dirty="0" err="1"/>
              <a:t>CloudFront</a:t>
            </a:r>
            <a:endParaRPr lang="en-IN" dirty="0"/>
          </a:p>
        </p:txBody>
      </p:sp>
    </p:spTree>
    <p:extLst>
      <p:ext uri="{BB962C8B-B14F-4D97-AF65-F5344CB8AC3E}">
        <p14:creationId xmlns:p14="http://schemas.microsoft.com/office/powerpoint/2010/main" val="33103677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57200" y="2071584"/>
            <a:ext cx="8229600" cy="35831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594371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IP addresses</a:t>
            </a:r>
          </a:p>
        </p:txBody>
      </p:sp>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57200" y="2581056"/>
            <a:ext cx="8229600" cy="2564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991513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IPv4 and IPv6 addresses</a:t>
            </a:r>
          </a:p>
        </p:txBody>
      </p:sp>
      <p:pic>
        <p:nvPicPr>
          <p:cNvPr id="307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20668" y="2735998"/>
            <a:ext cx="6102664" cy="22543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567220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098" name="Picture 2"/>
          <p:cNvPicPr>
            <a:picLocks noGrp="1" noChangeAspect="1" noChangeArrowheads="1"/>
          </p:cNvPicPr>
          <p:nvPr>
            <p:ph idx="1"/>
          </p:nvPr>
        </p:nvPicPr>
        <p:blipFill>
          <a:blip r:embed="rId3" cstate="print">
            <a:extLst>
              <a:ext uri="{28A0092B-C50C-407E-A947-70E740481C1C}">
                <a14:useLocalDpi xmlns:a14="http://schemas.microsoft.com/office/drawing/2010/main" val="0"/>
              </a:ext>
            </a:extLst>
          </a:blip>
          <a:srcRect/>
          <a:stretch>
            <a:fillRect/>
          </a:stretch>
        </p:blipFill>
        <p:spPr bwMode="auto">
          <a:xfrm>
            <a:off x="991039" y="1600200"/>
            <a:ext cx="7161921"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945574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1995488"/>
            <a:ext cx="8534400" cy="2867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268537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717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0" y="304800"/>
            <a:ext cx="8915400" cy="6019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184769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614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57200" y="1971544"/>
            <a:ext cx="8229600" cy="3783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495647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921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77856" y="2774100"/>
            <a:ext cx="5588287" cy="2178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054741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Amazon </a:t>
            </a:r>
            <a:br>
              <a:rPr lang="en-IN" dirty="0"/>
            </a:br>
            <a:r>
              <a:rPr lang="en-IN" dirty="0"/>
              <a:t>VPC</a:t>
            </a:r>
          </a:p>
        </p:txBody>
      </p:sp>
      <p:sp>
        <p:nvSpPr>
          <p:cNvPr id="3" name="Content Placeholder 2"/>
          <p:cNvSpPr>
            <a:spLocks noGrp="1"/>
          </p:cNvSpPr>
          <p:nvPr>
            <p:ph idx="1"/>
          </p:nvPr>
        </p:nvSpPr>
        <p:spPr/>
        <p:txBody>
          <a:bodyPr>
            <a:normAutofit fontScale="70000" lnSpcReduction="20000"/>
          </a:bodyPr>
          <a:lstStyle/>
          <a:p>
            <a:r>
              <a:rPr lang="en-US" dirty="0"/>
              <a:t>Enables you to provision a logically isolated section of the</a:t>
            </a:r>
          </a:p>
          <a:p>
            <a:r>
              <a:rPr lang="en-US" dirty="0"/>
              <a:t>AWS Cloud where you can launch AWS resources in a virtual</a:t>
            </a:r>
          </a:p>
          <a:p>
            <a:r>
              <a:rPr lang="en-IN" dirty="0"/>
              <a:t>network that you define</a:t>
            </a:r>
          </a:p>
          <a:p>
            <a:r>
              <a:rPr lang="en-US" dirty="0"/>
              <a:t>Gives you control over your virtual networking resources,</a:t>
            </a:r>
          </a:p>
          <a:p>
            <a:pPr marL="0" indent="0">
              <a:buNone/>
            </a:pPr>
            <a:r>
              <a:rPr lang="en-IN" dirty="0"/>
              <a:t>including:</a:t>
            </a:r>
          </a:p>
          <a:p>
            <a:pPr lvl="1"/>
            <a:r>
              <a:rPr lang="en-US" dirty="0"/>
              <a:t> Selection of IP address range</a:t>
            </a:r>
          </a:p>
          <a:p>
            <a:pPr lvl="1"/>
            <a:r>
              <a:rPr lang="en-IN" dirty="0"/>
              <a:t>Creation of subnets</a:t>
            </a:r>
          </a:p>
          <a:p>
            <a:pPr lvl="1"/>
            <a:r>
              <a:rPr lang="en-US" dirty="0"/>
              <a:t> Configuration of route tables and network gateways</a:t>
            </a:r>
          </a:p>
          <a:p>
            <a:r>
              <a:rPr lang="en-US" dirty="0"/>
              <a:t>• Enables you to customize the network configuration for your</a:t>
            </a:r>
          </a:p>
          <a:p>
            <a:pPr marL="0" indent="0">
              <a:buNone/>
            </a:pPr>
            <a:r>
              <a:rPr lang="en-IN" dirty="0"/>
              <a:t>        VPC</a:t>
            </a:r>
          </a:p>
          <a:p>
            <a:r>
              <a:rPr lang="en-US" dirty="0"/>
              <a:t>• Enables you to use multiple layers of security</a:t>
            </a:r>
            <a:endParaRPr lang="en-IN" dirty="0"/>
          </a:p>
        </p:txBody>
      </p:sp>
    </p:spTree>
    <p:extLst>
      <p:ext uri="{BB962C8B-B14F-4D97-AF65-F5344CB8AC3E}">
        <p14:creationId xmlns:p14="http://schemas.microsoft.com/office/powerpoint/2010/main" val="22979838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Amazon VPC</a:t>
            </a:r>
          </a:p>
        </p:txBody>
      </p:sp>
      <p:pic>
        <p:nvPicPr>
          <p:cNvPr id="819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04800" y="1066800"/>
            <a:ext cx="8458200" cy="563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134462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VPCs and subnets</a:t>
            </a:r>
          </a:p>
        </p:txBody>
      </p:sp>
      <p:pic>
        <p:nvPicPr>
          <p:cNvPr id="1024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57200" y="2240973"/>
            <a:ext cx="8229600" cy="32444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205242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IP addressing</a:t>
            </a:r>
          </a:p>
        </p:txBody>
      </p:sp>
      <p:pic>
        <p:nvPicPr>
          <p:cNvPr id="1126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57200" y="2229536"/>
            <a:ext cx="8229600" cy="3267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619056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Reserved IP addresses</a:t>
            </a:r>
          </a:p>
        </p:txBody>
      </p:sp>
      <p:pic>
        <p:nvPicPr>
          <p:cNvPr id="1229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57200" y="2041450"/>
            <a:ext cx="8229600" cy="3643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967859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1374C74C-0425-58BC-4EC4-F7BE3C8A1EC4}"/>
              </a:ext>
            </a:extLst>
          </p:cNvPr>
          <p:cNvSpPr>
            <a:spLocks noGrp="1"/>
          </p:cNvSpPr>
          <p:nvPr>
            <p:ph idx="1"/>
          </p:nvPr>
        </p:nvSpPr>
        <p:spPr/>
        <p:txBody>
          <a:bodyPr>
            <a:normAutofit lnSpcReduction="10000"/>
          </a:bodyPr>
          <a:lstStyle/>
          <a:p>
            <a:r>
              <a:rPr lang="en-US" dirty="0">
                <a:solidFill>
                  <a:srgbClr val="FF0000"/>
                </a:solidFill>
              </a:rPr>
              <a:t>Public IPv4 addresses </a:t>
            </a:r>
            <a:r>
              <a:rPr lang="en-US" dirty="0"/>
              <a:t>are automatically assigned to instances </a:t>
            </a:r>
            <a:r>
              <a:rPr lang="en-US"/>
              <a:t>when launched and </a:t>
            </a:r>
            <a:r>
              <a:rPr lang="en-US" dirty="0"/>
              <a:t>can change when the instance is stopped and restarted. </a:t>
            </a:r>
          </a:p>
          <a:p>
            <a:r>
              <a:rPr lang="en-US" dirty="0">
                <a:solidFill>
                  <a:srgbClr val="FF0000"/>
                </a:solidFill>
              </a:rPr>
              <a:t>Elastic IPs</a:t>
            </a:r>
            <a:r>
              <a:rPr lang="en-US" dirty="0"/>
              <a:t>, on the other hand, are static public IPv4 addresses that you can allocate to your account and associate with instances, allowing you to maintain a consistent IP address even if the instance is stopped and restarted. </a:t>
            </a:r>
            <a:endParaRPr lang="en-IN" dirty="0"/>
          </a:p>
        </p:txBody>
      </p:sp>
    </p:spTree>
    <p:extLst>
      <p:ext uri="{BB962C8B-B14F-4D97-AF65-F5344CB8AC3E}">
        <p14:creationId xmlns:p14="http://schemas.microsoft.com/office/powerpoint/2010/main" val="4603221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Route tables and routes</a:t>
            </a:r>
          </a:p>
        </p:txBody>
      </p:sp>
      <p:pic>
        <p:nvPicPr>
          <p:cNvPr id="1433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57200" y="2123689"/>
            <a:ext cx="8229600" cy="34789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200025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Security Group</a:t>
            </a:r>
            <a:br>
              <a:rPr lang="en-IN" dirty="0"/>
            </a:br>
            <a:endParaRPr lang="en-IN" dirty="0"/>
          </a:p>
        </p:txBody>
      </p:sp>
      <p:sp>
        <p:nvSpPr>
          <p:cNvPr id="3" name="Content Placeholder 2"/>
          <p:cNvSpPr>
            <a:spLocks noGrp="1"/>
          </p:cNvSpPr>
          <p:nvPr>
            <p:ph idx="1"/>
          </p:nvPr>
        </p:nvSpPr>
        <p:spPr/>
        <p:txBody>
          <a:bodyPr/>
          <a:lstStyle/>
          <a:p>
            <a:r>
              <a:rPr lang="en-US" dirty="0"/>
              <a:t>A security group is a virtual firewall which is controlling the traffic to your EC2 instances.</a:t>
            </a:r>
          </a:p>
          <a:p>
            <a:r>
              <a:rPr lang="en-US" dirty="0"/>
              <a:t>When you first launch an EC2 instance, you can associate it with one or more security groups.</a:t>
            </a:r>
          </a:p>
          <a:p>
            <a:r>
              <a:rPr lang="en-US" dirty="0"/>
              <a:t>A Security group is the first </a:t>
            </a:r>
            <a:r>
              <a:rPr lang="en-US" dirty="0" err="1"/>
              <a:t>defence</a:t>
            </a:r>
            <a:r>
              <a:rPr lang="en-US" dirty="0"/>
              <a:t> against hackers.</a:t>
            </a:r>
          </a:p>
          <a:p>
            <a:endParaRPr lang="en-IN" dirty="0"/>
          </a:p>
        </p:txBody>
      </p:sp>
    </p:spTree>
    <p:extLst>
      <p:ext uri="{BB962C8B-B14F-4D97-AF65-F5344CB8AC3E}">
        <p14:creationId xmlns:p14="http://schemas.microsoft.com/office/powerpoint/2010/main" val="15856668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33400" y="1524000"/>
            <a:ext cx="8229600" cy="12409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3276600"/>
            <a:ext cx="8763000" cy="167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680663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57200" y="2026296"/>
            <a:ext cx="8229600" cy="36737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559026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307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0" y="2514601"/>
            <a:ext cx="8001000" cy="19010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583322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09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62000" y="2286000"/>
            <a:ext cx="7924800" cy="2438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699729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VPC Peering</a:t>
            </a:r>
            <a:endParaRPr lang="en-IN" dirty="0"/>
          </a:p>
        </p:txBody>
      </p:sp>
      <p:sp>
        <p:nvSpPr>
          <p:cNvPr id="3" name="Content Placeholder 2"/>
          <p:cNvSpPr>
            <a:spLocks noGrp="1"/>
          </p:cNvSpPr>
          <p:nvPr>
            <p:ph idx="1"/>
          </p:nvPr>
        </p:nvSpPr>
        <p:spPr/>
        <p:txBody>
          <a:bodyPr/>
          <a:lstStyle/>
          <a:p>
            <a:r>
              <a:rPr lang="en-US" b="1" dirty="0"/>
              <a:t>VPC Peering</a:t>
            </a:r>
            <a:r>
              <a:rPr lang="en-US" dirty="0"/>
              <a:t> is a networking connection between two Virtual Private Clouds (VPCs) in AWS that allows them to communicate with each other privately as if they were within the same network, without using public internet or VPNs.</a:t>
            </a:r>
            <a:endParaRPr lang="en-IN" dirty="0"/>
          </a:p>
        </p:txBody>
      </p:sp>
    </p:spTree>
    <p:extLst>
      <p:ext uri="{BB962C8B-B14F-4D97-AF65-F5344CB8AC3E}">
        <p14:creationId xmlns:p14="http://schemas.microsoft.com/office/powerpoint/2010/main" val="23888845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a:t>A </a:t>
            </a:r>
            <a:r>
              <a:rPr lang="en-US" i="1" dirty="0"/>
              <a:t>virtual private cloud</a:t>
            </a:r>
            <a:r>
              <a:rPr lang="en-US" dirty="0"/>
              <a:t> (VPC) is a virtual network dedicated to your AWS account. </a:t>
            </a:r>
          </a:p>
          <a:p>
            <a:r>
              <a:rPr lang="en-US" dirty="0"/>
              <a:t>It is logically isolated from other virtual networks in the AWS Cloud. </a:t>
            </a:r>
          </a:p>
          <a:p>
            <a:r>
              <a:rPr lang="en-US" dirty="0"/>
              <a:t>You can launch AWS resources, such as Amazon EC2 instances, into your VPC.</a:t>
            </a:r>
            <a:endParaRPr lang="en-IN" dirty="0"/>
          </a:p>
        </p:txBody>
      </p:sp>
    </p:spTree>
    <p:extLst>
      <p:ext uri="{BB962C8B-B14F-4D97-AF65-F5344CB8AC3E}">
        <p14:creationId xmlns:p14="http://schemas.microsoft.com/office/powerpoint/2010/main" val="40814016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a:t>A VPC peering connection is a networking connection between two VPCs that enables you to route traffic between them using private IPv4 addresses or IPv6 addresses. </a:t>
            </a:r>
          </a:p>
          <a:p>
            <a:r>
              <a:rPr lang="en-US" dirty="0"/>
              <a:t>Instances in either VPC can communicate with each other as if they are within the same network.</a:t>
            </a:r>
            <a:endParaRPr lang="en-IN" dirty="0"/>
          </a:p>
        </p:txBody>
      </p:sp>
    </p:spTree>
    <p:extLst>
      <p:ext uri="{BB962C8B-B14F-4D97-AF65-F5344CB8AC3E}">
        <p14:creationId xmlns:p14="http://schemas.microsoft.com/office/powerpoint/2010/main" val="26039750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VPC Peering</a:t>
            </a:r>
            <a:endParaRPr lang="en-IN" dirty="0"/>
          </a:p>
        </p:txBody>
      </p:sp>
      <p:pic>
        <p:nvPicPr>
          <p:cNvPr id="512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85800" y="1524000"/>
            <a:ext cx="7848600" cy="434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001413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AWS Direct Connect </a:t>
            </a:r>
          </a:p>
        </p:txBody>
      </p:sp>
      <p:sp>
        <p:nvSpPr>
          <p:cNvPr id="3" name="Content Placeholder 2"/>
          <p:cNvSpPr>
            <a:spLocks noGrp="1"/>
          </p:cNvSpPr>
          <p:nvPr>
            <p:ph idx="1"/>
          </p:nvPr>
        </p:nvSpPr>
        <p:spPr/>
        <p:txBody>
          <a:bodyPr/>
          <a:lstStyle/>
          <a:p>
            <a:r>
              <a:rPr lang="en-US" b="1" dirty="0"/>
              <a:t>AWS Direct Connect</a:t>
            </a:r>
            <a:r>
              <a:rPr lang="en-US" dirty="0"/>
              <a:t> is a cloud service that enables you to establish a dedicated, private network connection from your on-premises data center to AWS, bypassing the public internet for improved bandwidth, lower latency, and enhanced security.</a:t>
            </a:r>
            <a:endParaRPr lang="en-IN" dirty="0"/>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4724400"/>
            <a:ext cx="7696200" cy="167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268886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a:t>Real-Time </a:t>
            </a:r>
            <a:r>
              <a:rPr lang="en-US" dirty="0" err="1"/>
              <a:t>ExampleThink</a:t>
            </a:r>
            <a:r>
              <a:rPr lang="en-US" dirty="0"/>
              <a:t> of AWS Direct Connect as a private, high-speed express lane directly from your office to a cloud data center, ensuring faster, more secure, and reliable access to your cloud resources, without the delays and variability of public roads (the internet).</a:t>
            </a:r>
            <a:endParaRPr lang="en-IN" dirty="0"/>
          </a:p>
        </p:txBody>
      </p:sp>
    </p:spTree>
    <p:extLst>
      <p:ext uri="{BB962C8B-B14F-4D97-AF65-F5344CB8AC3E}">
        <p14:creationId xmlns:p14="http://schemas.microsoft.com/office/powerpoint/2010/main" val="18321581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Amazon </a:t>
            </a:r>
            <a:r>
              <a:rPr lang="en-IN" dirty="0" err="1"/>
              <a:t>CloudFront</a:t>
            </a:r>
            <a:br>
              <a:rPr lang="en-IN" dirty="0"/>
            </a:br>
            <a:endParaRPr lang="en-IN" dirty="0"/>
          </a:p>
        </p:txBody>
      </p:sp>
      <p:sp>
        <p:nvSpPr>
          <p:cNvPr id="3" name="Content Placeholder 2"/>
          <p:cNvSpPr>
            <a:spLocks noGrp="1"/>
          </p:cNvSpPr>
          <p:nvPr>
            <p:ph idx="1"/>
          </p:nvPr>
        </p:nvSpPr>
        <p:spPr/>
        <p:txBody>
          <a:bodyPr/>
          <a:lstStyle/>
          <a:p>
            <a:r>
              <a:rPr lang="en-US" dirty="0"/>
              <a:t>Amazon </a:t>
            </a:r>
            <a:r>
              <a:rPr lang="en-US" dirty="0" err="1"/>
              <a:t>CloudFront</a:t>
            </a:r>
            <a:r>
              <a:rPr lang="en-US" dirty="0"/>
              <a:t> is a fast content delivery network (CDN) service that securely delivers data, videos, applications, and APIs to customers globally with low latency, high transfer speeds, all within a developer-friendly environment.</a:t>
            </a:r>
          </a:p>
          <a:p>
            <a:r>
              <a:rPr lang="en-US" dirty="0"/>
              <a:t>Securely deliver content with low latency and high transfer speeds</a:t>
            </a:r>
          </a:p>
          <a:p>
            <a:endParaRPr lang="en-IN" dirty="0"/>
          </a:p>
        </p:txBody>
      </p:sp>
    </p:spTree>
    <p:extLst>
      <p:ext uri="{BB962C8B-B14F-4D97-AF65-F5344CB8AC3E}">
        <p14:creationId xmlns:p14="http://schemas.microsoft.com/office/powerpoint/2010/main" val="274166009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Benefits</a:t>
            </a:r>
            <a:br>
              <a:rPr lang="en-IN" dirty="0"/>
            </a:br>
            <a:endParaRPr lang="en-IN" dirty="0"/>
          </a:p>
        </p:txBody>
      </p:sp>
      <p:sp>
        <p:nvSpPr>
          <p:cNvPr id="3" name="Content Placeholder 2"/>
          <p:cNvSpPr>
            <a:spLocks noGrp="1"/>
          </p:cNvSpPr>
          <p:nvPr>
            <p:ph idx="1"/>
          </p:nvPr>
        </p:nvSpPr>
        <p:spPr/>
        <p:txBody>
          <a:bodyPr/>
          <a:lstStyle/>
          <a:p>
            <a:r>
              <a:rPr lang="en-IN" b="1" dirty="0"/>
              <a:t>Fast and global</a:t>
            </a:r>
          </a:p>
          <a:p>
            <a:r>
              <a:rPr lang="en-IN" b="1" dirty="0"/>
              <a:t>Security at the Edge</a:t>
            </a:r>
            <a:endParaRPr lang="en-IN" dirty="0"/>
          </a:p>
        </p:txBody>
      </p:sp>
    </p:spTree>
    <p:extLst>
      <p:ext uri="{BB962C8B-B14F-4D97-AF65-F5344CB8AC3E}">
        <p14:creationId xmlns:p14="http://schemas.microsoft.com/office/powerpoint/2010/main" val="203207020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endParaRPr lang="en-IN" dirty="0"/>
          </a:p>
        </p:txBody>
      </p:sp>
      <p:sp>
        <p:nvSpPr>
          <p:cNvPr id="3" name="Content Placeholder 2"/>
          <p:cNvSpPr>
            <a:spLocks noGrp="1"/>
          </p:cNvSpPr>
          <p:nvPr>
            <p:ph idx="1"/>
          </p:nvPr>
        </p:nvSpPr>
        <p:spPr/>
        <p:txBody>
          <a:bodyPr/>
          <a:lstStyle/>
          <a:p>
            <a:r>
              <a:rPr lang="en-US" dirty="0"/>
              <a:t>Imagine you have a popular website with users all over the world. Amazon </a:t>
            </a:r>
            <a:r>
              <a:rPr lang="en-US" dirty="0" err="1"/>
              <a:t>CloudFront</a:t>
            </a:r>
            <a:r>
              <a:rPr lang="en-US" dirty="0"/>
              <a:t> is like setting up local warehouses (edge servers) near your users, so when they request content from your site, they get it quickly from the nearest warehouse instead of waiting for it to come all the way from your main headquarters (the origin server).</a:t>
            </a:r>
            <a:endParaRPr lang="en-IN" dirty="0"/>
          </a:p>
        </p:txBody>
      </p:sp>
    </p:spTree>
    <p:extLst>
      <p:ext uri="{BB962C8B-B14F-4D97-AF65-F5344CB8AC3E}">
        <p14:creationId xmlns:p14="http://schemas.microsoft.com/office/powerpoint/2010/main" val="20378997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1C578558CBD2848A6764E8E61586938" ma:contentTypeVersion="3" ma:contentTypeDescription="Create a new document." ma:contentTypeScope="" ma:versionID="a20f87de023f60388342628a35b586f8">
  <xsd:schema xmlns:xsd="http://www.w3.org/2001/XMLSchema" xmlns:xs="http://www.w3.org/2001/XMLSchema" xmlns:p="http://schemas.microsoft.com/office/2006/metadata/properties" xmlns:ns2="22c1bb43-8269-4db6-b87f-a523301c0ac8" targetNamespace="http://schemas.microsoft.com/office/2006/metadata/properties" ma:root="true" ma:fieldsID="2410fb42b016fa2b6125d9ad69c099f7" ns2:_="">
    <xsd:import namespace="22c1bb43-8269-4db6-b87f-a523301c0ac8"/>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2c1bb43-8269-4db6-b87f-a523301c0ac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3EDAA17-08FB-4935-95AB-D5FFFF2E661A}">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E81531AF-5B69-4D60-95A4-A43ACDA98A38}">
  <ds:schemaRefs>
    <ds:schemaRef ds:uri="http://schemas.microsoft.com/sharepoint/v3/contenttype/forms"/>
  </ds:schemaRefs>
</ds:datastoreItem>
</file>

<file path=customXml/itemProps3.xml><?xml version="1.0" encoding="utf-8"?>
<ds:datastoreItem xmlns:ds="http://schemas.openxmlformats.org/officeDocument/2006/customXml" ds:itemID="{C6607373-A2D6-46F1-B43D-32789679BAF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2c1bb43-8269-4db6-b87f-a523301c0ac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405</TotalTime>
  <Words>611</Words>
  <Application>Microsoft Office PowerPoint</Application>
  <PresentationFormat>On-screen Show (4:3)</PresentationFormat>
  <Paragraphs>54</Paragraphs>
  <Slides>30</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30</vt:i4>
      </vt:variant>
    </vt:vector>
  </HeadingPairs>
  <TitlesOfParts>
    <vt:vector size="34" baseType="lpstr">
      <vt:lpstr>Aptos</vt:lpstr>
      <vt:lpstr>Arial</vt:lpstr>
      <vt:lpstr>Calibri</vt:lpstr>
      <vt:lpstr>Office Theme</vt:lpstr>
      <vt:lpstr>Module:3-AWS Networking and Content Delivery</vt:lpstr>
      <vt:lpstr>PowerPoint Presentation</vt:lpstr>
      <vt:lpstr>IP addresses</vt:lpstr>
      <vt:lpstr>IPv4 and IPv6 addresses</vt:lpstr>
      <vt:lpstr>PowerPoint Presentation</vt:lpstr>
      <vt:lpstr>PowerPoint Presentation</vt:lpstr>
      <vt:lpstr>PowerPoint Presentation</vt:lpstr>
      <vt:lpstr>PowerPoint Presentation</vt:lpstr>
      <vt:lpstr>PowerPoint Presentation</vt:lpstr>
      <vt:lpstr>Amazon  VPC</vt:lpstr>
      <vt:lpstr>Amazon VPC</vt:lpstr>
      <vt:lpstr>VPCs and subnets</vt:lpstr>
      <vt:lpstr>IP addressing</vt:lpstr>
      <vt:lpstr>Reserved IP addresses</vt:lpstr>
      <vt:lpstr>PowerPoint Presentation</vt:lpstr>
      <vt:lpstr>Route tables and routes</vt:lpstr>
      <vt:lpstr>Security Group </vt:lpstr>
      <vt:lpstr>PowerPoint Presentation</vt:lpstr>
      <vt:lpstr>PowerPoint Presentation</vt:lpstr>
      <vt:lpstr>PowerPoint Presentation</vt:lpstr>
      <vt:lpstr>PowerPoint Presentation</vt:lpstr>
      <vt:lpstr>VPC Peering</vt:lpstr>
      <vt:lpstr>PowerPoint Presentation</vt:lpstr>
      <vt:lpstr>PowerPoint Presentation</vt:lpstr>
      <vt:lpstr>VPC Peering</vt:lpstr>
      <vt:lpstr>AWS Direct Connect </vt:lpstr>
      <vt:lpstr>PowerPoint Presentation</vt:lpstr>
      <vt:lpstr>Amazon CloudFront </vt:lpstr>
      <vt:lpstr>Benefits </vt:lpstr>
      <vt:lpstr>Example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Module:3-AWS Networking and Content Delivery</dc:title>
  <dc:creator>Admin</dc:creator>
  <cp:lastModifiedBy>Dheetchanya Mohan</cp:lastModifiedBy>
  <cp:revision>12</cp:revision>
  <dcterms:created xsi:type="dcterms:W3CDTF">2006-08-16T00:00:00Z</dcterms:created>
  <dcterms:modified xsi:type="dcterms:W3CDTF">2025-08-17T12:21:50Z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0x01010071C578558CBD2848A6764E8E61586938</vt:lpwstr>
  </property>
</Properties>
</file>